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55600"/>
            <a:ext cx="10922000" cy="609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600" b="true">
                <a:solidFill>
                  <a:srgbClr val="1C2733"/>
                </a:solidFill>
              </a:rPr>
              <a:t>黄金 vs 比特币：避险/抗通胀资产决策框架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397000"/>
            <a:ext cx="10668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1C2733"/>
                </a:solidFill>
              </a:rPr>
              <a:t>问题：在避险与抗通胀配置中，黄金（GLD）与比特币（BTC）各自扮演什么角色？</a:t>
            </a: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1C2733"/>
                </a:solidFill>
              </a:rPr>
              <a:t>样本：2021-09 ~ 2026-08 近五年日线（GLD / BTC-USD / SPY 三资产日期交集对齐）</a:t>
            </a: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1C2733"/>
                </a:solidFill>
              </a:rPr>
              <a:t>方法：确定性回测（CAGR、年化波动、最大回撤、夏普、Pearson 相关、权重组合情景）</a:t>
            </a: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1C2733"/>
                </a:solidFill>
              </a:rPr>
              <a:t>口径：CAGR 按日历时间；夏普 rf=0；回撤为收盘价口径；BTC 为 7×24 交易日历（约 365 天/年）</a:t>
            </a: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1C2733"/>
                </a:solidFill>
              </a:rPr>
              <a:t>工具：Apache POI XSLF 表格 + Java2D 静态 PNG 图（POI 原生图表能力弱，取舍见代码注释）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55600"/>
            <a:ext cx="10922000" cy="609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600" b="true">
                <a:solidFill>
                  <a:srgbClr val="1C2733"/>
                </a:solidFill>
              </a:rPr>
              <a:t>指标对比：收益、风险与效率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143000"/>
          <a:ext cx="10668000" cy="2032000"/>
        </p:xfrm>
        <a:graphic>
          <a:graphicData uri="http://schemas.openxmlformats.org/drawingml/2006/table">
            <a:tbl>
              <a:tblPr/>
              <a:tblGrid>
                <a:gridCol w="3048000"/>
                <a:gridCol w="1524000"/>
                <a:gridCol w="1524000"/>
                <a:gridCol w="1524000"/>
                <a:gridCol w="1524000"/>
                <a:gridCol w="15240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资产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年化收益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年化波动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最大回撤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夏普(rf=0)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交易日数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GLD（黄金ETF）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18.94%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18.77%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26.40%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1.0091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1254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BTC-USD（比特币）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11.42%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51.86%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76.63%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0.2203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1827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SPY（美股基准）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11.28%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17.22%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25.36%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0.6552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1254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>
            <a:off x="762000" y="5969000"/>
            <a:ext cx="1066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100">
                <a:solidFill>
                  <a:srgbClr val="6B7A8C"/>
                </a:solidFill>
              </a:rPr>
              <a:t>夏普 rf=0 为简化口径；GLD 为黄金 ETF（价格代理），BTC 为 Binance BTCUSDT。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55600"/>
            <a:ext cx="10922000" cy="609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600" b="true">
                <a:solidFill>
                  <a:srgbClr val="1C2733"/>
                </a:solidFill>
              </a:rPr>
              <a:t>风险与相关性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143000"/>
          <a:ext cx="10668000" cy="2032000"/>
        </p:xfrm>
        <a:graphic>
          <a:graphicData uri="http://schemas.openxmlformats.org/drawingml/2006/table">
            <a:tbl>
              <a:tblPr/>
              <a:tblGrid>
                <a:gridCol w="4267200"/>
                <a:gridCol w="2133600"/>
                <a:gridCol w="2133600"/>
                <a:gridCol w="2133600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日收益率 Pearson 相关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GLD（黄金ETF）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BTC-USD（比特币）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SPY（美股基准）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GLD（黄金ETF）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1.0000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0.1396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0.1491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BTC-USD（比特币）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0.1396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1.0000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0.4047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SPY（美股基准）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0.1491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0.4047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1.0000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>
            <a:off x="762000" y="5969000"/>
            <a:ext cx="1066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100">
                <a:solidFill>
                  <a:srgbClr val="6B7A8C"/>
                </a:solidFill>
              </a:rPr>
              <a:t>GLD（黄金ETF）最大回撤 26.40%（2026-01-29 → 2026-07-16，168 天）  BTC-USD（比特币）最大回撤 76.63%（2021-11-08 → 2022-11-21，378 天）  SPY（美股基准）最大回撤 25.36%（2022-01-03 → 2022-10-12，282 天） 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55600"/>
            <a:ext cx="10922000" cy="609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600" b="true">
                <a:solidFill>
                  <a:srgbClr val="1C2733"/>
                </a:solidFill>
              </a:rPr>
              <a:t>组合情景与决策建议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016000"/>
          <a:ext cx="5207000" cy="3556000"/>
        </p:xfrm>
        <a:graphic>
          <a:graphicData uri="http://schemas.openxmlformats.org/drawingml/2006/table">
            <a:tbl>
              <a:tblPr/>
              <a:tblGrid>
                <a:gridCol w="1735667"/>
                <a:gridCol w="867833"/>
                <a:gridCol w="867833"/>
                <a:gridCol w="867833"/>
                <a:gridCol w="867833"/>
              </a:tblGrid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组合（金/币/股）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年化收益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年化波动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最大回撤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b="true">
                          <a:solidFill>
                            <a:srgbClr val="B8860B"/>
                          </a:solidFill>
                        </a:rPr>
                        <a:t>夏普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5F8"/>
                    </a:solidFill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100% 金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18.94%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18.77%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26.40%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1.0091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100% 币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11.09%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52.42%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76.63%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0.2115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金 60% / 币 40%（可配权重）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19.73%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25.15%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43.30%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0.7847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金 50% / 币 50%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19.09%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29.05%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50.45%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0.6572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金 40% / 币 60%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18.11%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33.34%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56.90%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0.5433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股 60% / 金 40%（经典 60/40）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15.05%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13.65%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19.10%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/>
                        <a:t>1.1025</a:t>
                      </a:r>
                      <a:endParaRPr lang="en-US" sz="11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651000"/>
            <a:ext cx="5334000" cy="2489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762000" y="5969000"/>
            <a:ext cx="1066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1100">
                <a:solidFill>
                  <a:srgbClr val="6B7A8C"/>
                </a:solidFill>
              </a:rPr>
              <a:t>组合基于三资产日期交集的日收益率线性加权，逐日再平衡假设。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355600"/>
            <a:ext cx="10922000" cy="6096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r>
              <a:rPr lang="en-US" sz="2600" b="true">
                <a:solidFill>
                  <a:srgbClr val="1C2733"/>
                </a:solidFill>
              </a:rPr>
              <a:t>决策建议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397000"/>
            <a:ext cx="10668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1C2733"/>
                </a:solidFill>
              </a:rPr>
              <a:t>黄金：低波动（18.77%）、浅回撤（26.40%）——避险压舱石，收益弹性有限（CAGR 18.94%）</a:t>
            </a: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1C2733"/>
                </a:solidFill>
              </a:rPr>
              <a:t>比特币：高波动（51.86%）、深回撤（76.63%）——抗通胀/高风险偏好增强器，CAGR 11.42%</a:t>
            </a: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1C2733"/>
                </a:solidFill>
              </a:rPr>
              <a:t>两者日收益率相关仅 0.1396，同仓配置有分散化价值</a:t>
            </a: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1C2733"/>
                </a:solidFill>
              </a:rPr>
              <a:t>建议框架：核心避险仓位以黄金为主（如 60/40 中金的权重），比特币作为卫星仓位严格控制回撤预算</a:t>
            </a:r>
          </a:p>
          <a:p>
            <a:pPr>
              <a:buFont typeface="Arial"/>
              <a:buChar char="•"/>
            </a:pPr>
            <a:r>
              <a:rPr lang="en-US" sz="1600">
                <a:solidFill>
                  <a:srgbClr val="1C2733"/>
                </a:solidFill>
              </a:rPr>
              <a:t>执行：单一组合权重非最优解，按风险预算（波动贡献）与回撤容忍度再平衡；详见 Word 策略报告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